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6" r:id="rId4"/>
    <p:sldMasterId id="214748373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BM Plex Sans"/>
      <p:regular r:id="rId19"/>
      <p:bold r:id="rId20"/>
      <p:italic r:id="rId21"/>
      <p:boldItalic r:id="rId22"/>
    </p:embeddedFont>
    <p:embeddedFont>
      <p:font typeface="Sora SemiBold"/>
      <p:regular r:id="rId23"/>
      <p:bold r:id="rId24"/>
    </p:embeddedFont>
    <p:embeddedFont>
      <p:font typeface="Urbanist Medium"/>
      <p:regular r:id="rId25"/>
      <p:bold r:id="rId26"/>
      <p:italic r:id="rId27"/>
      <p:boldItalic r:id="rId28"/>
    </p:embeddedFont>
    <p:embeddedFont>
      <p:font typeface="Urbanist SemiBold"/>
      <p:regular r:id="rId29"/>
      <p:bold r:id="rId30"/>
      <p:italic r:id="rId31"/>
      <p:boldItalic r:id="rId32"/>
    </p:embeddedFont>
    <p:embeddedFont>
      <p:font typeface="Urbanist"/>
      <p:regular r:id="rId33"/>
      <p:bold r:id="rId34"/>
      <p:italic r:id="rId35"/>
      <p:boldItalic r:id="rId36"/>
    </p:embeddedFont>
    <p:embeddedFont>
      <p:font typeface="IBM Plex Sans Medium"/>
      <p:regular r:id="rId37"/>
      <p:bold r:id="rId38"/>
      <p:italic r:id="rId39"/>
      <p:boldItalic r:id="rId40"/>
    </p:embeddedFont>
    <p:embeddedFont>
      <p:font typeface="Sora Light"/>
      <p:regular r:id="rId41"/>
      <p:bold r:id="rId42"/>
    </p:embeddedFont>
    <p:embeddedFont>
      <p:font typeface="Sora ExtraLight"/>
      <p:regular r:id="rId43"/>
      <p:bold r:id="rId44"/>
    </p:embeddedFont>
    <p:embeddedFont>
      <p:font typeface="Sora"/>
      <p:regular r:id="rId45"/>
      <p:bold r:id="rId46"/>
    </p:embeddedFont>
    <p:embeddedFont>
      <p:font typeface="Sora Medium"/>
      <p:regular r:id="rId47"/>
      <p:bold r:id="rId48"/>
    </p:embeddedFont>
    <p:embeddedFont>
      <p:font typeface="IBM Plex Sans SemiBold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403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403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Medium-boldItalic.fntdata"/><Relationship Id="rId42" Type="http://schemas.openxmlformats.org/officeDocument/2006/relationships/font" Target="fonts/SoraLight-bold.fntdata"/><Relationship Id="rId41" Type="http://schemas.openxmlformats.org/officeDocument/2006/relationships/font" Target="fonts/SoraLight-regular.fntdata"/><Relationship Id="rId44" Type="http://schemas.openxmlformats.org/officeDocument/2006/relationships/font" Target="fonts/SoraExtraLight-bold.fntdata"/><Relationship Id="rId43" Type="http://schemas.openxmlformats.org/officeDocument/2006/relationships/font" Target="fonts/SoraExtraLight-regular.fntdata"/><Relationship Id="rId46" Type="http://schemas.openxmlformats.org/officeDocument/2006/relationships/font" Target="fonts/Sora-bold.fntdata"/><Relationship Id="rId45" Type="http://schemas.openxmlformats.org/officeDocument/2006/relationships/font" Target="fonts/Sor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SoraMedium-bold.fntdata"/><Relationship Id="rId47" Type="http://schemas.openxmlformats.org/officeDocument/2006/relationships/font" Target="fonts/SoraMedium-regular.fntdata"/><Relationship Id="rId49" Type="http://schemas.openxmlformats.org/officeDocument/2006/relationships/font" Target="fonts/IBMPlexSans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SemiBold-italic.fntdata"/><Relationship Id="rId30" Type="http://schemas.openxmlformats.org/officeDocument/2006/relationships/font" Target="fonts/UrbanistSemiBold-bold.fntdata"/><Relationship Id="rId33" Type="http://schemas.openxmlformats.org/officeDocument/2006/relationships/font" Target="fonts/Urbanist-regular.fntdata"/><Relationship Id="rId32" Type="http://schemas.openxmlformats.org/officeDocument/2006/relationships/font" Target="fonts/UrbanistSemiBold-boldItalic.fntdata"/><Relationship Id="rId35" Type="http://schemas.openxmlformats.org/officeDocument/2006/relationships/font" Target="fonts/Urbanist-italic.fntdata"/><Relationship Id="rId34" Type="http://schemas.openxmlformats.org/officeDocument/2006/relationships/font" Target="fonts/Urbanist-bold.fntdata"/><Relationship Id="rId37" Type="http://schemas.openxmlformats.org/officeDocument/2006/relationships/font" Target="fonts/IBMPlexSansMedium-regular.fntdata"/><Relationship Id="rId36" Type="http://schemas.openxmlformats.org/officeDocument/2006/relationships/font" Target="fonts/Urbanist-boldItalic.fntdata"/><Relationship Id="rId39" Type="http://schemas.openxmlformats.org/officeDocument/2006/relationships/font" Target="fonts/IBMPlexSansMedium-italic.fntdata"/><Relationship Id="rId38" Type="http://schemas.openxmlformats.org/officeDocument/2006/relationships/font" Target="fonts/IBMPlexSansMedium-bold.fntdata"/><Relationship Id="rId20" Type="http://schemas.openxmlformats.org/officeDocument/2006/relationships/font" Target="fonts/IBMPlexSans-bold.fntdata"/><Relationship Id="rId22" Type="http://schemas.openxmlformats.org/officeDocument/2006/relationships/font" Target="fonts/IBMPlexSans-boldItalic.fntdata"/><Relationship Id="rId21" Type="http://schemas.openxmlformats.org/officeDocument/2006/relationships/font" Target="fonts/IBMPlexSans-italic.fntdata"/><Relationship Id="rId24" Type="http://schemas.openxmlformats.org/officeDocument/2006/relationships/font" Target="fonts/SoraSemiBold-bold.fntdata"/><Relationship Id="rId23" Type="http://schemas.openxmlformats.org/officeDocument/2006/relationships/font" Target="fonts/SoraSemiBold-regular.fntdata"/><Relationship Id="rId26" Type="http://schemas.openxmlformats.org/officeDocument/2006/relationships/font" Target="fonts/UrbanistMedium-bold.fntdata"/><Relationship Id="rId25" Type="http://schemas.openxmlformats.org/officeDocument/2006/relationships/font" Target="fonts/UrbanistMedium-regular.fntdata"/><Relationship Id="rId28" Type="http://schemas.openxmlformats.org/officeDocument/2006/relationships/font" Target="fonts/UrbanistMedium-boldItalic.fntdata"/><Relationship Id="rId27" Type="http://schemas.openxmlformats.org/officeDocument/2006/relationships/font" Target="fonts/UrbanistMedium-italic.fntdata"/><Relationship Id="rId29" Type="http://schemas.openxmlformats.org/officeDocument/2006/relationships/font" Target="fonts/UrbanistSemiBold-regular.fntdata"/><Relationship Id="rId51" Type="http://schemas.openxmlformats.org/officeDocument/2006/relationships/font" Target="fonts/IBMPlexSansSemiBold-italic.fntdata"/><Relationship Id="rId50" Type="http://schemas.openxmlformats.org/officeDocument/2006/relationships/font" Target="fonts/IBMPlexSansSemiBold-bold.fntdata"/><Relationship Id="rId52" Type="http://schemas.openxmlformats.org/officeDocument/2006/relationships/font" Target="fonts/IBMPlexSa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BMPlex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a978732733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3a978732733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3a978732733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3a978732733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3a978732733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3a978732733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3a978732733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3a978732733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a978732733_0_2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3a978732733_0_2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3a978732733_0_1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3a978732733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a978732733_0_2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3a978732733_0_2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a978732733_0_2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3a978732733_0_2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3a978732733_0_2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3a978732733_0_2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3a97dea023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3a97dea023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a978732733_0_1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a978732733_0_1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3a978732733_0_1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3a978732733_0_1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4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40" name="Google Shape;440;p4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41" name="Google Shape;441;p4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42" name="Google Shape;442;p4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443" name="Google Shape;443;p4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444" name="Google Shape;444;p4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445" name="Google Shape;445;p4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446" name="Google Shape;446;p4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47" name="Google Shape;447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48" name="Google Shape;448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9" name="Google Shape;449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0" name="Google Shape;450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51" name="Google Shape;451;p4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452" name="Google Shape;452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3" name="Google Shape;453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4" name="Google Shape;454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5" name="Google Shape;455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56" name="Google Shape;456;p4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57" name="Google Shape;457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8" name="Google Shape;458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9" name="Google Shape;459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0" name="Google Shape;460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61" name="Google Shape;461;p4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462" name="Google Shape;462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3" name="Google Shape;46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464" name="Google Shape;464;p4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465" name="Google Shape;465;p4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p4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68" name="Google Shape;468;p4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69" name="Google Shape;469;p4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70" name="Google Shape;470;p4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1" name="Google Shape;471;p4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2" name="Google Shape;472;p4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3" name="Google Shape;473;p4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4" name="Google Shape;474;p4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5" name="Google Shape;475;p4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76" name="Google Shape;476;p4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7" name="Google Shape;477;p4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8" name="Google Shape;478;p4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79" name="Google Shape;479;p4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0" name="Google Shape;480;p4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81" name="Google Shape;481;p4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2" name="Google Shape;482;p4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3" name="Google Shape;483;p4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4" name="Google Shape;484;p4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5" name="Google Shape;485;p4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6" name="Google Shape;486;p4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87" name="Google Shape;487;p4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8" name="Google Shape;488;p4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9" name="Google Shape;489;p4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0" name="Google Shape;490;p4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1" name="Google Shape;491;p4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2" name="Google Shape;492;p4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493" name="Google Shape;493;p4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494" name="Google Shape;494;p4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5" name="Google Shape;495;p4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6" name="Google Shape;496;p4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4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4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4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00" name="Google Shape;500;p4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01" name="Google Shape;501;p4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4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504" name="Google Shape;504;p4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05" name="Google Shape;505;p4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6" name="Google Shape;506;p4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4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4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9" name="Google Shape;509;p4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0" name="Google Shape;510;p4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1" name="Google Shape;511;p4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2" name="Google Shape;512;p4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4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4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5" name="Google Shape;515;p4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6" name="Google Shape;516;p4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7" name="Google Shape;517;p4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8" name="Google Shape;518;p4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4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0" name="Google Shape;520;p4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1" name="Google Shape;521;p4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2" name="Google Shape;522;p4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3" name="Google Shape;523;p4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4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4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4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4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4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9" name="Google Shape;529;p4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30" name="Google Shape;530;p4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1" name="Google Shape;531;p4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2" name="Google Shape;532;p4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3" name="Google Shape;533;p4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4" name="Google Shape;534;p4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5" name="Google Shape;535;p4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36" name="Google Shape;536;p4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4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539" name="Google Shape;539;p4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40" name="Google Shape;540;p4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1" name="Google Shape;541;p4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2" name="Google Shape;542;p4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4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4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4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6" name="Google Shape;546;p4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7" name="Google Shape;547;p4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8" name="Google Shape;548;p4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9" name="Google Shape;549;p4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4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4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2" name="Google Shape;552;p4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53" name="Google Shape;553;p4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4" name="Google Shape;554;p4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5" name="Google Shape;555;p4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4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4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8" name="Google Shape;558;p4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59" name="Google Shape;559;p4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0" name="Google Shape;560;p4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1" name="Google Shape;561;p4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4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4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4" name="Google Shape;564;p4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5" name="Google Shape;565;p4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566" name="Google Shape;566;p4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567" name="Google Shape;567;p4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68" name="Google Shape;568;p4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69" name="Google Shape;569;p4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0" name="Google Shape;570;p4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71" name="Google Shape;571;p4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572" name="Google Shape;572;p4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3" name="Google Shape;573;p4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4" name="Google Shape;574;p4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5" name="Google Shape;575;p4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76" name="Google Shape;576;p4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577" name="Google Shape;577;p4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8" name="Google Shape;578;p4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79" name="Google Shape;579;p4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0" name="Google Shape;580;p4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81" name="Google Shape;581;p4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582" name="Google Shape;582;p4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3" name="Google Shape;583;p4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4" name="Google Shape;584;p4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85" name="Google Shape;585;p4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586" name="Google Shape;586;p4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587" name="Google Shape;587;p4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588" name="Google Shape;588;p4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589" name="Google Shape;589;p4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90" name="Google Shape;590;p4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4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92" name="Google Shape;592;p4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3" name="Google Shape;593;p4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6" name="Google Shape;596;p4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7" name="Google Shape;597;p4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8" name="Google Shape;598;p4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9" name="Google Shape;599;p4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00" name="Google Shape;600;p4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4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4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603" name="Google Shape;603;p4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4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5" name="Google Shape;605;p4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4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607" name="Google Shape;607;p4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08" name="Google Shape;608;p4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609" name="Google Shape;609;p4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10" name="Google Shape;610;p4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11" name="Google Shape;611;p4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4" name="Google Shape;614;p4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5" name="Google Shape;615;p4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6" name="Google Shape;616;p4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7" name="Google Shape;617;p4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618" name="Google Shape;618;p4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9" name="Google Shape;619;p4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622" name="Google Shape;622;p4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623" name="Google Shape;623;p4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624" name="Google Shape;624;p4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625" name="Google Shape;625;p4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26" name="Google Shape;626;p4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27" name="Google Shape;627;p4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28" name="Google Shape;628;p4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29" name="Google Shape;629;p4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30" name="Google Shape;630;p4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631" name="Google Shape;631;p4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32" name="Google Shape;632;p4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33" name="Google Shape;633;p4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34" name="Google Shape;634;p4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35" name="Google Shape;635;p4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6" name="Google Shape;636;p4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7" name="Google Shape;637;p4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8" name="Google Shape;638;p4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9" name="Google Shape;639;p4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0" name="Google Shape;640;p4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1" name="Google Shape;641;p4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4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5" name="Google Shape;645;p4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6" name="Google Shape;646;p4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647" name="Google Shape;647;p4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8" name="Google Shape;648;p4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" name="Google Shape;650;p5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651" name="Google Shape;651;p5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652" name="Google Shape;652;p5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3" name="Google Shape;653;p5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4" name="Google Shape;654;p5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5" name="Google Shape;655;p5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6" name="Google Shape;656;p5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57" name="Google Shape;657;p5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658" name="Google Shape;658;p5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9" name="Google Shape;659;p5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0" name="Google Shape;660;p5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1" name="Google Shape;661;p5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62" name="Google Shape;662;p5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663" name="Google Shape;663;p5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4" name="Google Shape;664;p5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5" name="Google Shape;665;p5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6" name="Google Shape;666;p5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67" name="Google Shape;667;p5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8" name="Google Shape;668;p5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9" name="Google Shape;669;p5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72" name="Google Shape;672;p5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673" name="Google Shape;673;p5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674" name="Google Shape;674;p5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75" name="Google Shape;675;p5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76" name="Google Shape;676;p5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77" name="Google Shape;677;p5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8" name="Google Shape;678;p5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9" name="Google Shape;679;p5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0" name="Google Shape;680;p5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1" name="Google Shape;681;p5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2" name="Google Shape;682;p5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83" name="Google Shape;683;p5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684" name="Google Shape;684;p5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685" name="Google Shape;685;p5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686" name="Google Shape;686;p5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9" name="Google Shape;689;p5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690" name="Google Shape;690;p5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691" name="Google Shape;691;p5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692" name="Google Shape;692;p5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3" name="Google Shape;693;p5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7" name="Google Shape;697;p5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99" name="Google Shape;699;p5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00" name="Google Shape;700;p5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1" name="Google Shape;701;p5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702" name="Google Shape;702;p5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3" name="Google Shape;703;p5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06" name="Google Shape;706;p5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707" name="Google Shape;707;p5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08" name="Google Shape;708;p5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709" name="Google Shape;709;p5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0" name="Google Shape;710;p5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1" name="Google Shape;711;p5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2" name="Google Shape;712;p5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3" name="Google Shape;713;p5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714" name="Google Shape;714;p5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5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8" name="Google Shape;718;p5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19" name="Google Shape;719;p5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720" name="Google Shape;720;p5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721" name="Google Shape;721;p5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2" name="Google Shape;722;p5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5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5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5" name="Google Shape;725;p5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726" name="Google Shape;726;p5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7" name="Google Shape;727;p5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5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5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5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731" name="Google Shape;731;p5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5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5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5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5" name="Google Shape;735;p5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736" name="Google Shape;736;p5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737" name="Google Shape;737;p5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8" name="Google Shape;738;p5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9" name="Google Shape;739;p5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0" name="Google Shape;740;p5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5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4" name="Google Shape;744;p5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45" name="Google Shape;745;p5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8" name="Google Shape;748;p5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49" name="Google Shape;749;p5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50" name="Google Shape;750;p5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51" name="Google Shape;751;p5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52" name="Google Shape;752;p5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53" name="Google Shape;753;p5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54" name="Google Shape;754;p5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55" name="Google Shape;755;p5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56" name="Google Shape;756;p5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57" name="Google Shape;757;p5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58" name="Google Shape;758;p5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59" name="Google Shape;759;p5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60" name="Google Shape;760;p5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61" name="Google Shape;761;p5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62" name="Google Shape;762;p5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63" name="Google Shape;763;p5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64" name="Google Shape;764;p5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65" name="Google Shape;765;p5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66" name="Google Shape;766;p5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767" name="Google Shape;767;p5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0" name="Google Shape;770;p5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1" name="Google Shape;771;p5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2" name="Google Shape;772;p5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3" name="Google Shape;773;p5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74" name="Google Shape;774;p5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5" name="Google Shape;775;p5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6" name="Google Shape;776;p5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77" name="Google Shape;777;p5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8" name="Google Shape;778;p5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9" name="Google Shape;779;p5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0" name="Google Shape;780;p5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1" name="Google Shape;781;p5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2" name="Google Shape;782;p5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3" name="Google Shape;783;p5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4" name="Google Shape;784;p5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5" name="Google Shape;785;p5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6" name="Google Shape;786;p5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7" name="Google Shape;787;p5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8" name="Google Shape;788;p5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9" name="Google Shape;789;p5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2" name="Google Shape;792;p5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3" name="Google Shape;793;p5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94" name="Google Shape;794;p5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795" name="Google Shape;795;p5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796" name="Google Shape;796;p5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7" name="Google Shape;797;p5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8" name="Google Shape;798;p5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9" name="Google Shape;799;p5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0" name="Google Shape;800;p5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01" name="Google Shape;801;p5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802" name="Google Shape;802;p5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3" name="Google Shape;803;p5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4" name="Google Shape;804;p5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5" name="Google Shape;805;p5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06" name="Google Shape;806;p5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807" name="Google Shape;807;p5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8" name="Google Shape;808;p5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09" name="Google Shape;809;p5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10" name="Google Shape;810;p5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811" name="Google Shape;811;p5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12" name="Google Shape;812;p5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13" name="Google Shape;813;p5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14" name="Google Shape;814;p5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15" name="Google Shape;815;p5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16" name="Google Shape;816;p5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17" name="Google Shape;817;p5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18" name="Google Shape;818;p5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19" name="Google Shape;819;p5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20" name="Google Shape;820;p5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21" name="Google Shape;821;p5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22" name="Google Shape;822;p5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23" name="Google Shape;823;p5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4" name="Google Shape;824;p5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27" name="Google Shape;827;p5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28" name="Google Shape;828;p5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29" name="Google Shape;829;p5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30" name="Google Shape;830;p5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31" name="Google Shape;831;p5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32" name="Google Shape;832;p5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3" name="Google Shape;833;p5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4" name="Google Shape;834;p5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5" name="Google Shape;835;p5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6" name="Google Shape;836;p5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7" name="Google Shape;837;p5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8" name="Google Shape;838;p5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9" name="Google Shape;839;p5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0" name="Google Shape;840;p5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1" name="Google Shape;841;p5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2" name="Google Shape;842;p5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43" name="Google Shape;843;p5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846" name="Google Shape;846;p6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847" name="Google Shape;847;p6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48" name="Google Shape;848;p6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9" name="Google Shape;849;p6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0" name="Google Shape;850;p6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1" name="Google Shape;851;p6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2" name="Google Shape;852;p6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3" name="Google Shape;853;p6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4" name="Google Shape;854;p6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55" name="Google Shape;855;p6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56" name="Google Shape;856;p6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57" name="Google Shape;857;p6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58" name="Google Shape;858;p6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59" name="Google Shape;859;p6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1" name="Google Shape;861;p6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862" name="Google Shape;862;p6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863" name="Google Shape;863;p6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64" name="Google Shape;864;p6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65" name="Google Shape;865;p6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66" name="Google Shape;866;p6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67" name="Google Shape;867;p6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68" name="Google Shape;868;p6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869" name="Google Shape;869;p6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70" name="Google Shape;870;p6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71" name="Google Shape;871;p6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72" name="Google Shape;872;p6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73" name="Google Shape;873;p6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874" name="Google Shape;874;p6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75" name="Google Shape;875;p6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76" name="Google Shape;876;p6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77" name="Google Shape;877;p6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878" name="Google Shape;878;p6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9" name="Google Shape;879;p6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0" name="Google Shape;880;p6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1" name="Google Shape;881;p6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82" name="Google Shape;882;p6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883" name="Google Shape;883;p6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884" name="Google Shape;884;p6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6" name="Google Shape;886;p6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887" name="Google Shape;887;p6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888" name="Google Shape;888;p6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89" name="Google Shape;889;p6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0" name="Google Shape;890;p6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1" name="Google Shape;891;p6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2" name="Google Shape;892;p6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93" name="Google Shape;893;p6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894" name="Google Shape;894;p6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5" name="Google Shape;895;p6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6" name="Google Shape;896;p6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7" name="Google Shape;897;p6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98" name="Google Shape;898;p6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899" name="Google Shape;899;p6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0" name="Google Shape;900;p6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1" name="Google Shape;901;p6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2" name="Google Shape;902;p6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903" name="Google Shape;903;p6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4" name="Google Shape;904;p6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5" name="Google Shape;905;p6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06" name="Google Shape;906;p6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907" name="Google Shape;907;p6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6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6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0" name="Google Shape;910;p6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11" name="Google Shape;911;p6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12" name="Google Shape;912;p6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13" name="Google Shape;913;p6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14" name="Google Shape;914;p6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15" name="Google Shape;915;p6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16" name="Google Shape;916;p6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17" name="Google Shape;917;p6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18" name="Google Shape;918;p6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19" name="Google Shape;919;p6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20" name="Google Shape;920;p6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21" name="Google Shape;921;p6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" name="Google Shape;923;p6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924" name="Google Shape;924;p6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925" name="Google Shape;925;p6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926" name="Google Shape;926;p6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7" name="Google Shape;927;p6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8" name="Google Shape;928;p6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9" name="Google Shape;929;p6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0" name="Google Shape;930;p6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31" name="Google Shape;931;p6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2" name="Google Shape;932;p6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3" name="Google Shape;933;p6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4" name="Google Shape;934;p6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5" name="Google Shape;935;p6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6" name="Google Shape;936;p6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37" name="Google Shape;937;p6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938" name="Google Shape;938;p6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9" name="Google Shape;939;p6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0" name="Google Shape;940;p6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1" name="Google Shape;941;p6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2" name="Google Shape;942;p6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43" name="Google Shape;943;p6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44" name="Google Shape;944;p6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5" name="Google Shape;945;p6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6" name="Google Shape;946;p6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7" name="Google Shape;947;p6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48" name="Google Shape;948;p6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949" name="Google Shape;949;p6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950" name="Google Shape;950;p6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51" name="Google Shape;951;p6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52" name="Google Shape;952;p6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3" name="Google Shape;953;p6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4" name="Google Shape;954;p6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5" name="Google Shape;955;p6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6" name="Google Shape;956;p6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7" name="Google Shape;957;p6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58" name="Google Shape;958;p6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9" name="Google Shape;959;p6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0" name="Google Shape;960;p6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1" name="Google Shape;961;p6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2" name="Google Shape;962;p6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3" name="Google Shape;963;p6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4" name="Google Shape;964;p6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5" name="Google Shape;965;p6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6" name="Google Shape;966;p6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7" name="Google Shape;967;p6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8" name="Google Shape;968;p6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9" name="Google Shape;969;p6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70" name="Google Shape;970;p6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1" name="Google Shape;971;p6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2" name="Google Shape;972;p6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3" name="Google Shape;973;p6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4" name="Google Shape;974;p6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75" name="Google Shape;975;p6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976" name="Google Shape;976;p6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7" name="Google Shape;977;p6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8" name="Google Shape;978;p6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79" name="Google Shape;979;p6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80" name="Google Shape;980;p6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1" name="Google Shape;981;p6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82" name="Google Shape;982;p6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3" name="Google Shape;983;p6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84" name="Google Shape;984;p6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5" name="Google Shape;985;p6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86" name="Google Shape;986;p6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7" name="Google Shape;987;p6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88" name="Google Shape;988;p6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9" name="Google Shape;989;p6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90" name="Google Shape;990;p6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91" name="Google Shape;991;p6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92" name="Google Shape;992;p6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5" name="Google Shape;995;p6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996" name="Google Shape;996;p6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7" name="Google Shape;997;p6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8" name="Google Shape;998;p6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9" name="Google Shape;999;p6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0" name="Google Shape;1000;p6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1" name="Google Shape;1001;p6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02" name="Google Shape;1002;p6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3" name="Google Shape;1003;p6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4" name="Google Shape;1004;p6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5" name="Google Shape;1005;p6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06" name="Google Shape;1006;p6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07" name="Google Shape;1007;p6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08" name="Google Shape;1008;p6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09" name="Google Shape;1009;p6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0" name="Google Shape;1010;p6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1" name="Google Shape;1011;p6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6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4" name="Google Shape;1014;p6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5" name="Google Shape;1015;p6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16" name="Google Shape;1016;p6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017" name="Google Shape;1017;p6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018" name="Google Shape;1018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9" name="Google Shape;1019;p6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20" name="Google Shape;1020;p6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oogle Shape;1022;p6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1023" name="Google Shape;1023;p6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1024" name="Google Shape;1024;p6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25" name="Google Shape;1025;p6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26" name="Google Shape;1026;p6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27" name="Google Shape;1027;p6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1028" name="Google Shape;1028;p6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29" name="Google Shape;1029;p6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30" name="Google Shape;1030;p6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31" name="Google Shape;1031;p6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1032" name="Google Shape;1032;p6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33" name="Google Shape;1033;p6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34" name="Google Shape;1034;p6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35" name="Google Shape;1035;p6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1036" name="Google Shape;1036;p6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37" name="Google Shape;1037;p6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1038" name="Google Shape;1038;p6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1039" name="Google Shape;1039;p6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40" name="Google Shape;1040;p6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1" name="Google Shape;1041;p6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42" name="Google Shape;1042;p6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43" name="Google Shape;1043;p6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044" name="Google Shape;1044;p6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45" name="Google Shape;1045;p6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46" name="Google Shape;1046;p6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47" name="Google Shape;1047;p6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48" name="Google Shape;1048;p6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49" name="Google Shape;1049;p6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50" name="Google Shape;1050;p6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oogle Shape;1052;p6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1053" name="Google Shape;1053;p6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054" name="Google Shape;1054;p6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1055" name="Google Shape;1055;p6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56" name="Google Shape;1056;p6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057" name="Google Shape;1057;p6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058" name="Google Shape;1058;p6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59" name="Google Shape;1059;p6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60" name="Google Shape;1060;p6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061" name="Google Shape;1061;p6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062" name="Google Shape;1062;p6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63" name="Google Shape;1063;p6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064" name="Google Shape;1064;p6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065" name="Google Shape;1065;p6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66" name="Google Shape;1066;p6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7" name="Google Shape;1067;p6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68" name="Google Shape;1068;p6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69" name="Google Shape;1069;p6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70" name="Google Shape;1070;p6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1" name="Google Shape;1071;p6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72" name="Google Shape;1072;p6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3" name="Google Shape;1073;p6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074" name="Google Shape;1074;p6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1075" name="Google Shape;1075;p6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076" name="Google Shape;1076;p6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1077" name="Google Shape;1077;p6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1078" name="Google Shape;1078;p6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79" name="Google Shape;1079;p6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1080" name="Google Shape;1080;p6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081" name="Google Shape;1081;p6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082" name="Google Shape;1082;p6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83" name="Google Shape;1083;p6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84" name="Google Shape;1084;p6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085" name="Google Shape;1085;p6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086" name="Google Shape;1086;p6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87" name="Google Shape;1087;p6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088" name="Google Shape;1088;p6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089" name="Google Shape;1089;p6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90" name="Google Shape;1090;p6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91" name="Google Shape;1091;p6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1092" name="Google Shape;1092;p6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3" name="Google Shape;1093;p6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94" name="Google Shape;1094;p6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95" name="Google Shape;1095;p6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96" name="Google Shape;1096;p6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97" name="Google Shape;1097;p6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8" name="Google Shape;1098;p6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99" name="Google Shape;1099;p6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00" name="Google Shape;1100;p6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6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03" name="Google Shape;1103;p6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04" name="Google Shape;1104;p6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05" name="Google Shape;1105;p6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1106" name="Google Shape;1106;p6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107" name="Google Shape;1107;p6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108" name="Google Shape;1108;p6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09" name="Google Shape;1109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10" name="Google Shape;1110;p6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111" name="Google Shape;1111;p6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2" name="Google Shape;1112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3" name="Google Shape;1113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4" name="Google Shape;1114;p6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15" name="Google Shape;1115;p6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116" name="Google Shape;1116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7" name="Google Shape;1117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18" name="Google Shape;1118;p6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19" name="Google Shape;1119;p6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120" name="Google Shape;1120;p6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21" name="Google Shape;1121;p6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22" name="Google Shape;1122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23" name="Google Shape;1123;p6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24" name="Google Shape;1124;p6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25" name="Google Shape;1125;p6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6" name="Google Shape;1126;p6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7" name="Google Shape;1127;p6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8" name="Google Shape;1128;p6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9" name="Google Shape;1129;p6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30" name="Google Shape;1130;p6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31" name="Google Shape;1131;p6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32" name="Google Shape;1132;p6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3" name="Google Shape;1133;p6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4" name="Google Shape;1134;p6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5" name="Google Shape;1135;p6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6" name="Google Shape;1136;p6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39" name="Google Shape;1139;p6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40" name="Google Shape;1140;p6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41" name="Google Shape;1141;p6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42" name="Google Shape;1142;p6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43" name="Google Shape;1143;p6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1144" name="Google Shape;1144;p6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5" name="Google Shape;1145;p6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146" name="Google Shape;1146;p6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147" name="Google Shape;1147;p6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8" name="Google Shape;1148;p6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49" name="Google Shape;1149;p6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150" name="Google Shape;1150;p6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1" name="Google Shape;1151;p6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2" name="Google Shape;1152;p6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3" name="Google Shape;1153;p6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54" name="Google Shape;1154;p6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155" name="Google Shape;1155;p6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6" name="Google Shape;1156;p6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7" name="Google Shape;1157;p6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58" name="Google Shape;1158;p6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159" name="Google Shape;1159;p6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60" name="Google Shape;1160;p6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61" name="Google Shape;1161;p6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62" name="Google Shape;1162;p6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63" name="Google Shape;1163;p6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64" name="Google Shape;1164;p6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5" name="Google Shape;1165;p6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6" name="Google Shape;1166;p6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7" name="Google Shape;1167;p6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8" name="Google Shape;1168;p6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69" name="Google Shape;1169;p6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70" name="Google Shape;1170;p6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71" name="Google Shape;1171;p6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72" name="Google Shape;1172;p6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3" name="Google Shape;1173;p6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4" name="Google Shape;1174;p6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5" name="Google Shape;1175;p6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76" name="Google Shape;1176;p6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7" name="Google Shape;1177;p6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7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80" name="Google Shape;1180;p7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1181" name="Google Shape;1181;p7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1182" name="Google Shape;1182;p7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83" name="Google Shape;1183;p7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84" name="Google Shape;1184;p7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85" name="Google Shape;1185;p7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86" name="Google Shape;1186;p7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7" name="Google Shape;1187;p7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88" name="Google Shape;1188;p7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89" name="Google Shape;1189;p7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90" name="Google Shape;1190;p7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91" name="Google Shape;1191;p7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92" name="Google Shape;1192;p7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93" name="Google Shape;1193;p7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1194" name="Google Shape;1194;p7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95" name="Google Shape;1195;p7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96" name="Google Shape;1196;p7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97" name="Google Shape;1197;p7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98" name="Google Shape;1198;p7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1199" name="Google Shape;1199;p7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0" name="Google Shape;1200;p7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1" name="Google Shape;1201;p7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2" name="Google Shape;1202;p7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203" name="Google Shape;1203;p7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204" name="Google Shape;1204;p7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5" name="Google Shape;1205;p7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6" name="Google Shape;1206;p7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7" name="Google Shape;1207;p7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8" name="Google Shape;1208;p7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9" name="Google Shape;1209;p7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0" name="Google Shape;1210;p7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1" name="Google Shape;1211;p7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2" name="Google Shape;1212;p7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3" name="Google Shape;1213;p7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14" name="Google Shape;1214;p7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7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17" name="Google Shape;1217;p7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7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2" name="Google Shape;1222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5" name="Google Shape;1225;p7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26" name="Google Shape;1226;p7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7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1" name="Google Shape;1231;p7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7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7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36" name="Google Shape;1236;p7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37" name="Google Shape;1237;p7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7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8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3" name="Google Shape;1243;p8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4" name="Google Shape;1244;p8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5" name="Google Shape;1245;p8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6" name="Google Shape;1246;p8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7" name="Google Shape;1247;p8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8" name="Google Shape;1248;p8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1" name="Google Shape;1251;p8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2" name="Google Shape;1252;p8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8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5" name="Google Shape;1255;p8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6" name="Google Shape;1256;p8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7" name="Google Shape;1257;p8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58" name="Google Shape;1258;p8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8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1" name="Google Shape;1261;p8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2" name="Google Shape;1262;p8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3" name="Google Shape;1263;p8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4" name="Google Shape;1264;p8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5" name="Google Shape;1265;p8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66" name="Google Shape;1266;p8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8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69" name="Google Shape;1269;p8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70" name="Google Shape;1270;p8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71" name="Google Shape;1271;p8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72" name="Google Shape;1272;p8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3" name="Google Shape;1273;p8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4" name="Google Shape;1274;p8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5" name="Google Shape;1275;p8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6" name="Google Shape;1276;p8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9" name="Google Shape;1279;p8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8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2" name="Google Shape;1282;p8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8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4" name="Google Shape;1284;p8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5" name="Google Shape;1285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6" name="Google Shape;1286;p8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87" name="Google Shape;1287;p8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8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0" name="Google Shape;1290;p8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1" name="Google Shape;1291;p8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2" name="Google Shape;1292;p8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3" name="Google Shape;1293;p8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8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5" name="Google Shape;1295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6" name="Google Shape;1296;p8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7" name="Google Shape;1297;p8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8" name="Google Shape;1298;p8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8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9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3" name="Google Shape;1303;p9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4" name="Google Shape;1304;p9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5" name="Google Shape;1305;p9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6" name="Google Shape;1306;p9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7" name="Google Shape;1307;p9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8" name="Google Shape;1308;p9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9" name="Google Shape;1309;p9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0" name="Google Shape;1310;p9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1" name="Google Shape;1311;p9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1.xml"/><Relationship Id="rId4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83.xml"/><Relationship Id="rId43" Type="http://schemas.openxmlformats.org/officeDocument/2006/relationships/slideLayout" Target="../slideLayouts/slideLayout82.xml"/><Relationship Id="rId46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84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48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88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4.xml"/><Relationship Id="rId34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68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4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36" name="Google Shape;436;p4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26" r:id="rId40"/>
    <p:sldLayoutId id="2147483727" r:id="rId41"/>
    <p:sldLayoutId id="2147483728" r:id="rId42"/>
    <p:sldLayoutId id="2147483729" r:id="rId43"/>
    <p:sldLayoutId id="2147483730" r:id="rId44"/>
    <p:sldLayoutId id="2147483731" r:id="rId45"/>
    <p:sldLayoutId id="2147483732" r:id="rId46"/>
    <p:sldLayoutId id="2147483733" r:id="rId47"/>
    <p:sldLayoutId id="2147483734" r:id="rId48"/>
    <p:sldLayoutId id="2147483735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yQdPV6NGoFZ_mnBy7qXivk9VPpuXWubT/view" TargetMode="External"/><Relationship Id="rId4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91"/>
          <p:cNvSpPr txBox="1"/>
          <p:nvPr>
            <p:ph type="title"/>
          </p:nvPr>
        </p:nvSpPr>
        <p:spPr>
          <a:xfrm>
            <a:off x="74600" y="2891050"/>
            <a:ext cx="61332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Stock Analysis App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17" name="Google Shape;1317;p91"/>
          <p:cNvSpPr txBox="1"/>
          <p:nvPr>
            <p:ph idx="1" type="subTitle"/>
          </p:nvPr>
        </p:nvSpPr>
        <p:spPr>
          <a:xfrm>
            <a:off x="130200" y="4291350"/>
            <a:ext cx="50577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Aaron Downing and Ryerson Brower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Aaron.downing652@topper.wku.edu, Ryerson.brower178@topper.wku.edu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92"/>
          <p:cNvSpPr txBox="1"/>
          <p:nvPr>
            <p:ph type="title"/>
          </p:nvPr>
        </p:nvSpPr>
        <p:spPr>
          <a:xfrm>
            <a:off x="129800" y="571325"/>
            <a:ext cx="65070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323" name="Google Shape;1323;p92"/>
          <p:cNvSpPr txBox="1"/>
          <p:nvPr>
            <p:ph idx="1" type="subTitle"/>
          </p:nvPr>
        </p:nvSpPr>
        <p:spPr>
          <a:xfrm>
            <a:off x="129800" y="1330925"/>
            <a:ext cx="8713200" cy="358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Goal: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Build an automated system that collects, stores, analyzes, and visualizes stock market data.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Manual stock research is time-consuming and fragmented—this project centralizes price data, fundamentals, and analysis into one cohesive platform.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Idea: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Combine real-time market movements with company financial data to generate deeper, data-driven insights.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Stack: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Python, MySQL, Docker, pandas, yfinance, and a React frontend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93"/>
          <p:cNvSpPr txBox="1"/>
          <p:nvPr>
            <p:ph idx="2" type="title"/>
          </p:nvPr>
        </p:nvSpPr>
        <p:spPr>
          <a:xfrm>
            <a:off x="115025" y="406250"/>
            <a:ext cx="65070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1329" name="Google Shape;1329;p93"/>
          <p:cNvSpPr txBox="1"/>
          <p:nvPr/>
        </p:nvSpPr>
        <p:spPr>
          <a:xfrm>
            <a:off x="228600" y="1426625"/>
            <a:ext cx="8686800" cy="3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Real-Time Price Tracking: Continuously fetches stock prices and stores them in a MySQL database.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Fundamental Data Collection: Uses y</a:t>
            </a: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finance</a:t>
            </a: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to gather key metrics for analysis.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Analysis &amp; Visualization: Merges price and fundamental data to calculate technical indicators and generate insights.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Scalable Architecture: Each component runs in it’s own Docker container for easy deployment and isolation.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Frontend: React-based interface planned to display visualizations and </a:t>
            </a: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analysis</a:t>
            </a: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results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94"/>
          <p:cNvSpPr txBox="1"/>
          <p:nvPr>
            <p:ph idx="3" type="body"/>
          </p:nvPr>
        </p:nvSpPr>
        <p:spPr>
          <a:xfrm>
            <a:off x="115025" y="868400"/>
            <a:ext cx="8605200" cy="32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The project must be implemented using at least three distinct Docker containers: a Price Polling Service, a Fundamental Data Service, and an Analysis and Visualization Service.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The Price Polling Service must automatically fetch (generate/move) time-series price data (e.g., 5-minute intervals) for at least three different stock tickers from a public financial API (e.g., Alpha Vantage, Finnhub, or Yahoo Finance).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The Fundamental Data Service must automatically fetch (generate/move) company-specific financial metrics (e.g., P/E Ratio, Market Cap, or 52-week high) for the same stock tickers.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 The Analysis and Visualization Service must consume data from the other two services, performing Data Fusion by linking the real-time price data with the fundamental data.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 This service must perform Data Processing by calculating at least one technical indicator for each stock(e.g., a 20-period Simple Moving Average (SMA) or Relative Strength Index (RSI)).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The Analysis and Visualization Service must host a visual dashboard that allows a user to select a stock ticker and view its time-series price, the calculated technical indicator, and its fundamental metrics all on one screen.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94"/>
          <p:cNvSpPr txBox="1"/>
          <p:nvPr>
            <p:ph idx="4" type="title"/>
          </p:nvPr>
        </p:nvSpPr>
        <p:spPr>
          <a:xfrm>
            <a:off x="115025" y="155425"/>
            <a:ext cx="672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</a:t>
            </a:r>
            <a:r>
              <a:rPr lang="en"/>
              <a:t> </a:t>
            </a:r>
            <a:r>
              <a:rPr lang="en"/>
              <a:t>Requirements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95"/>
          <p:cNvSpPr txBox="1"/>
          <p:nvPr>
            <p:ph idx="3" type="body"/>
          </p:nvPr>
        </p:nvSpPr>
        <p:spPr>
          <a:xfrm>
            <a:off x="115025" y="1186175"/>
            <a:ext cx="8605200" cy="32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The entire 3-container application stack must be automated and launched using an Infrastructure as Code (IaC) tool, such as Docker Compose, for consistent orchestration.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The data schemas for all data in motion (price data, fundamental data) and the complete data pipeline must be clearly defined, visualized, and explained in the technical documentation.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The system must include robust error handling for API failures (e.g., rate limiting, invalid ticker, or network errors) and log these events without crashing any of the services.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The price data on the dashboard should be ”near real-time,” with data being no more than 15 minutes old.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The dashboard must be responsive, clear, and must load in under 10 seconds.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Medium"/>
              <a:buAutoNum type="arabicPeriod"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All communication between containers must be clearly defined (e.g., via REST API calls, a message queue, or a shared database volume).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95"/>
          <p:cNvSpPr txBox="1"/>
          <p:nvPr>
            <p:ph idx="4" type="title"/>
          </p:nvPr>
        </p:nvSpPr>
        <p:spPr>
          <a:xfrm>
            <a:off x="115025" y="228600"/>
            <a:ext cx="672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Non-Functional Requirements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6"/>
          <p:cNvSpPr txBox="1"/>
          <p:nvPr>
            <p:ph idx="3" type="title"/>
          </p:nvPr>
        </p:nvSpPr>
        <p:spPr>
          <a:xfrm>
            <a:off x="115025" y="1904100"/>
            <a:ext cx="20274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Modeling and Design</a:t>
            </a:r>
            <a:endParaRPr sz="1500"/>
          </a:p>
        </p:txBody>
      </p:sp>
      <p:sp>
        <p:nvSpPr>
          <p:cNvPr id="1347" name="Google Shape;1347;p9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Design Principles</a:t>
            </a:r>
            <a:endParaRPr sz="1600"/>
          </a:p>
        </p:txBody>
      </p:sp>
      <p:sp>
        <p:nvSpPr>
          <p:cNvPr id="1348" name="Google Shape;1348;p96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Model</a:t>
            </a:r>
            <a:endParaRPr/>
          </a:p>
        </p:txBody>
      </p:sp>
      <p:sp>
        <p:nvSpPr>
          <p:cNvPr id="1349" name="Google Shape;1349;p9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Service Separation</a:t>
            </a:r>
            <a:endParaRPr sz="1500"/>
          </a:p>
        </p:txBody>
      </p:sp>
      <p:sp>
        <p:nvSpPr>
          <p:cNvPr id="1350" name="Google Shape;1350;p96"/>
          <p:cNvSpPr txBox="1"/>
          <p:nvPr>
            <p:ph idx="6" type="body"/>
          </p:nvPr>
        </p:nvSpPr>
        <p:spPr>
          <a:xfrm>
            <a:off x="0" y="2172600"/>
            <a:ext cx="2211600" cy="2112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Database Design</a:t>
            </a:r>
            <a:endParaRPr sz="1100"/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Stocks -&gt; Main DB</a:t>
            </a:r>
            <a:endParaRPr sz="11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Price_data -&gt; historical and real time prices</a:t>
            </a:r>
            <a:endParaRPr sz="11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Fundamentals -&gt; Company financials</a:t>
            </a:r>
            <a:endParaRPr sz="11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Analysis_results -&gt;Fused data with calculated indicators</a:t>
            </a:r>
            <a:endParaRPr sz="1100"/>
          </a:p>
        </p:txBody>
      </p:sp>
      <p:sp>
        <p:nvSpPr>
          <p:cNvPr id="1351" name="Google Shape;1351;p96"/>
          <p:cNvSpPr txBox="1"/>
          <p:nvPr>
            <p:ph idx="9" type="body"/>
          </p:nvPr>
        </p:nvSpPr>
        <p:spPr>
          <a:xfrm>
            <a:off x="4891300" y="2172600"/>
            <a:ext cx="2489400" cy="2112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Medium"/>
              <a:buChar char="●"/>
            </a:pPr>
            <a:r>
              <a:rPr lang="en" sz="14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rPr>
              <a:t>Modular and containerized services for scalability</a:t>
            </a:r>
            <a:endParaRPr sz="1400"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Medium"/>
              <a:buChar char="●"/>
            </a:pPr>
            <a:r>
              <a:rPr lang="en" sz="14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rPr>
              <a:t>Clear separation of concerns</a:t>
            </a:r>
            <a:endParaRPr sz="1400"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 Medium"/>
              <a:buChar char="●"/>
            </a:pPr>
            <a:r>
              <a:rPr lang="en" sz="1400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rPr>
              <a:t>Easy to maintain and extend</a:t>
            </a:r>
            <a:endParaRPr sz="1400"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352" name="Google Shape;1352;p96"/>
          <p:cNvSpPr txBox="1"/>
          <p:nvPr>
            <p:ph idx="8" type="body"/>
          </p:nvPr>
        </p:nvSpPr>
        <p:spPr>
          <a:xfrm>
            <a:off x="2634200" y="2172802"/>
            <a:ext cx="1834500" cy="2112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Price Polling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 Medium"/>
              <a:buChar char="●"/>
            </a:pPr>
            <a:r>
              <a:rPr lang="en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rPr>
              <a:t>Fetches live prices</a:t>
            </a:r>
            <a:endParaRPr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Fundamental Data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 Medium"/>
              <a:buChar char="●"/>
            </a:pPr>
            <a:r>
              <a:rPr lang="en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rPr>
              <a:t>Retrieves company fundamentals </a:t>
            </a:r>
            <a:endParaRPr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Analysis &amp; Visualization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 Medium"/>
              <a:buChar char="●"/>
            </a:pPr>
            <a:r>
              <a:rPr lang="en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rPr>
              <a:t>Merges data &amp; calculates insights</a:t>
            </a:r>
            <a:endParaRPr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Frontend Service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-292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 Medium"/>
              <a:buChar char="●"/>
            </a:pPr>
            <a:r>
              <a:rPr lang="en">
                <a:solidFill>
                  <a:schemeClr val="dk1"/>
                </a:solidFill>
                <a:latin typeface="Sora Medium"/>
                <a:ea typeface="Sora Medium"/>
                <a:cs typeface="Sora Medium"/>
                <a:sym typeface="Sora Medium"/>
              </a:rPr>
              <a:t>Displays visualizations</a:t>
            </a:r>
            <a:endParaRPr>
              <a:solidFill>
                <a:schemeClr val="dk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cxnSp>
        <p:nvCxnSpPr>
          <p:cNvPr id="1353" name="Google Shape;1353;p96"/>
          <p:cNvCxnSpPr/>
          <p:nvPr/>
        </p:nvCxnSpPr>
        <p:spPr>
          <a:xfrm rot="5400000">
            <a:off x="357297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96"/>
          <p:cNvCxnSpPr/>
          <p:nvPr/>
        </p:nvCxnSpPr>
        <p:spPr>
          <a:xfrm rot="5400000">
            <a:off x="104082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97"/>
          <p:cNvSpPr txBox="1"/>
          <p:nvPr>
            <p:ph idx="1" type="subTitle"/>
          </p:nvPr>
        </p:nvSpPr>
        <p:spPr>
          <a:xfrm>
            <a:off x="228600" y="1616500"/>
            <a:ext cx="2101200" cy="515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500">
                <a:latin typeface="IBM Plex Sans Medium"/>
                <a:ea typeface="IBM Plex Sans Medium"/>
                <a:cs typeface="IBM Plex Sans Medium"/>
                <a:sym typeface="IBM Plex Sans Medium"/>
              </a:rPr>
              <a:t>Price Polling</a:t>
            </a:r>
            <a:endParaRPr sz="1300"/>
          </a:p>
        </p:txBody>
      </p:sp>
      <p:sp>
        <p:nvSpPr>
          <p:cNvPr id="1360" name="Google Shape;1360;p97"/>
          <p:cNvSpPr txBox="1"/>
          <p:nvPr>
            <p:ph idx="5" type="subTitle"/>
          </p:nvPr>
        </p:nvSpPr>
        <p:spPr>
          <a:xfrm>
            <a:off x="2801550" y="2241600"/>
            <a:ext cx="1817400" cy="660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IBM Plex Sans Medium"/>
                <a:ea typeface="IBM Plex Sans Medium"/>
                <a:cs typeface="IBM Plex Sans Medium"/>
                <a:sym typeface="IBM Plex Sans Medium"/>
              </a:rPr>
              <a:t>MySQL Database</a:t>
            </a:r>
            <a:endParaRPr sz="15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361" name="Google Shape;1361;p97"/>
          <p:cNvSpPr txBox="1"/>
          <p:nvPr>
            <p:ph idx="6" type="subTitle"/>
          </p:nvPr>
        </p:nvSpPr>
        <p:spPr>
          <a:xfrm>
            <a:off x="5295450" y="1975650"/>
            <a:ext cx="1387800" cy="1192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ra Medium"/>
                <a:ea typeface="Sora Medium"/>
                <a:cs typeface="Sora Medium"/>
                <a:sym typeface="Sora Medium"/>
              </a:rPr>
              <a:t>Analysis &amp; Visualization Service</a:t>
            </a:r>
            <a:endParaRPr sz="14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362" name="Google Shape;1362;p97"/>
          <p:cNvSpPr txBox="1"/>
          <p:nvPr>
            <p:ph idx="7" type="subTitle"/>
          </p:nvPr>
        </p:nvSpPr>
        <p:spPr>
          <a:xfrm>
            <a:off x="7473750" y="1975650"/>
            <a:ext cx="1387800" cy="1192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IBM Plex Sans Medium"/>
                <a:ea typeface="IBM Plex Sans Medium"/>
                <a:cs typeface="IBM Plex Sans Medium"/>
                <a:sym typeface="IBM Plex Sans Medium"/>
              </a:rPr>
              <a:t>React Web Dashboard</a:t>
            </a:r>
            <a:endParaRPr sz="15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363" name="Google Shape;1363;p97"/>
          <p:cNvSpPr txBox="1"/>
          <p:nvPr>
            <p:ph idx="3" type="subTitle"/>
          </p:nvPr>
        </p:nvSpPr>
        <p:spPr>
          <a:xfrm>
            <a:off x="228600" y="3243900"/>
            <a:ext cx="2101200" cy="515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ra Medium"/>
                <a:ea typeface="Sora Medium"/>
                <a:cs typeface="Sora Medium"/>
                <a:sym typeface="Sora Medium"/>
              </a:rPr>
              <a:t>Fundamental Data</a:t>
            </a:r>
            <a:endParaRPr sz="15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364" name="Google Shape;1364;p97"/>
          <p:cNvSpPr txBox="1"/>
          <p:nvPr>
            <p:ph idx="2" type="title"/>
          </p:nvPr>
        </p:nvSpPr>
        <p:spPr>
          <a:xfrm>
            <a:off x="115025" y="502775"/>
            <a:ext cx="540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Pipeline</a:t>
            </a:r>
            <a:endParaRPr/>
          </a:p>
        </p:txBody>
      </p:sp>
      <p:cxnSp>
        <p:nvCxnSpPr>
          <p:cNvPr id="1365" name="Google Shape;1365;p97"/>
          <p:cNvCxnSpPr>
            <a:stCxn id="1359" idx="3"/>
          </p:cNvCxnSpPr>
          <p:nvPr/>
        </p:nvCxnSpPr>
        <p:spPr>
          <a:xfrm flipH="1" rot="10800000">
            <a:off x="2329800" y="1869250"/>
            <a:ext cx="1413900" cy="4800"/>
          </a:xfrm>
          <a:prstGeom prst="straightConnector1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6" name="Google Shape;1366;p97"/>
          <p:cNvCxnSpPr/>
          <p:nvPr/>
        </p:nvCxnSpPr>
        <p:spPr>
          <a:xfrm>
            <a:off x="2329800" y="3503850"/>
            <a:ext cx="1413900" cy="21900"/>
          </a:xfrm>
          <a:prstGeom prst="straightConnector1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7" name="Google Shape;1367;p97"/>
          <p:cNvCxnSpPr>
            <a:endCxn id="1360" idx="0"/>
          </p:cNvCxnSpPr>
          <p:nvPr/>
        </p:nvCxnSpPr>
        <p:spPr>
          <a:xfrm flipH="1">
            <a:off x="3710250" y="1882800"/>
            <a:ext cx="33600" cy="358800"/>
          </a:xfrm>
          <a:prstGeom prst="straightConnector1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8" name="Google Shape;1368;p97"/>
          <p:cNvCxnSpPr>
            <a:endCxn id="1360" idx="2"/>
          </p:cNvCxnSpPr>
          <p:nvPr/>
        </p:nvCxnSpPr>
        <p:spPr>
          <a:xfrm rot="10800000">
            <a:off x="3710250" y="2901900"/>
            <a:ext cx="33600" cy="651300"/>
          </a:xfrm>
          <a:prstGeom prst="straightConnector1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9" name="Google Shape;1369;p97"/>
          <p:cNvCxnSpPr>
            <a:stCxn id="1360" idx="3"/>
            <a:endCxn id="1361" idx="1"/>
          </p:cNvCxnSpPr>
          <p:nvPr/>
        </p:nvCxnSpPr>
        <p:spPr>
          <a:xfrm>
            <a:off x="4618950" y="2571750"/>
            <a:ext cx="676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97"/>
          <p:cNvCxnSpPr>
            <a:stCxn id="1361" idx="3"/>
            <a:endCxn id="1362" idx="1"/>
          </p:cNvCxnSpPr>
          <p:nvPr/>
        </p:nvCxnSpPr>
        <p:spPr>
          <a:xfrm>
            <a:off x="6683250" y="2571750"/>
            <a:ext cx="7905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98"/>
          <p:cNvSpPr/>
          <p:nvPr/>
        </p:nvSpPr>
        <p:spPr>
          <a:xfrm rot="10800000">
            <a:off x="1235525" y="15962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76" name="Google Shape;1376;p98"/>
          <p:cNvSpPr/>
          <p:nvPr/>
        </p:nvSpPr>
        <p:spPr>
          <a:xfrm>
            <a:off x="1265075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77" name="Google Shape;1377;p98"/>
          <p:cNvSpPr/>
          <p:nvPr/>
        </p:nvSpPr>
        <p:spPr>
          <a:xfrm rot="10800000">
            <a:off x="1235525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78" name="Google Shape;1378;p98"/>
          <p:cNvSpPr/>
          <p:nvPr/>
        </p:nvSpPr>
        <p:spPr>
          <a:xfrm>
            <a:off x="4699363" y="159625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79" name="Google Shape;1379;p98"/>
          <p:cNvSpPr/>
          <p:nvPr/>
        </p:nvSpPr>
        <p:spPr>
          <a:xfrm rot="10800000">
            <a:off x="4672250" y="1596250"/>
            <a:ext cx="618259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80" name="Google Shape;1380;p98"/>
          <p:cNvSpPr/>
          <p:nvPr/>
        </p:nvSpPr>
        <p:spPr>
          <a:xfrm>
            <a:off x="4699363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81" name="Google Shape;1381;p98"/>
          <p:cNvSpPr/>
          <p:nvPr/>
        </p:nvSpPr>
        <p:spPr>
          <a:xfrm rot="10800000">
            <a:off x="4665150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82" name="Google Shape;1382;p98"/>
          <p:cNvSpPr/>
          <p:nvPr/>
        </p:nvSpPr>
        <p:spPr>
          <a:xfrm>
            <a:off x="1235525" y="1596250"/>
            <a:ext cx="33324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383" name="Google Shape;1383;p98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4" name="Google Shape;1384;p98"/>
          <p:cNvSpPr txBox="1"/>
          <p:nvPr>
            <p:ph idx="8" type="subTitle"/>
          </p:nvPr>
        </p:nvSpPr>
        <p:spPr>
          <a:xfrm>
            <a:off x="1865850" y="2966200"/>
            <a:ext cx="23949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Data Fusion &amp; Analysis</a:t>
            </a:r>
            <a:endParaRPr/>
          </a:p>
        </p:txBody>
      </p:sp>
      <p:sp>
        <p:nvSpPr>
          <p:cNvPr id="1385" name="Google Shape;1385;p9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 and Fusion</a:t>
            </a:r>
            <a:endParaRPr/>
          </a:p>
        </p:txBody>
      </p:sp>
      <p:sp>
        <p:nvSpPr>
          <p:cNvPr id="1386" name="Google Shape;1386;p98"/>
          <p:cNvSpPr txBox="1"/>
          <p:nvPr/>
        </p:nvSpPr>
        <p:spPr>
          <a:xfrm>
            <a:off x="1439363" y="188830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87" name="Google Shape;1387;p98"/>
          <p:cNvSpPr txBox="1"/>
          <p:nvPr/>
        </p:nvSpPr>
        <p:spPr>
          <a:xfrm>
            <a:off x="4869875" y="18883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88" name="Google Shape;1388;p98"/>
          <p:cNvSpPr txBox="1"/>
          <p:nvPr/>
        </p:nvSpPr>
        <p:spPr>
          <a:xfrm>
            <a:off x="1439369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89" name="Google Shape;1389;p98"/>
          <p:cNvSpPr txBox="1"/>
          <p:nvPr/>
        </p:nvSpPr>
        <p:spPr>
          <a:xfrm>
            <a:off x="4869881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90" name="Google Shape;1390;p98"/>
          <p:cNvSpPr txBox="1"/>
          <p:nvPr>
            <p:ph idx="7" type="subTitle"/>
          </p:nvPr>
        </p:nvSpPr>
        <p:spPr>
          <a:xfrm>
            <a:off x="1865850" y="1657350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Data Processing</a:t>
            </a:r>
            <a:endParaRPr/>
          </a:p>
        </p:txBody>
      </p:sp>
      <p:sp>
        <p:nvSpPr>
          <p:cNvPr id="1391" name="Google Shape;1391;p98"/>
          <p:cNvSpPr txBox="1"/>
          <p:nvPr>
            <p:ph idx="1" type="body"/>
          </p:nvPr>
        </p:nvSpPr>
        <p:spPr>
          <a:xfrm>
            <a:off x="1715400" y="1990438"/>
            <a:ext cx="27000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Fetches live data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Cleans and validates data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Handles missing data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Converts timestamps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Stores processed data in DB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92" name="Google Shape;1392;p98"/>
          <p:cNvSpPr txBox="1"/>
          <p:nvPr>
            <p:ph idx="9" type="subTitle"/>
          </p:nvPr>
        </p:nvSpPr>
        <p:spPr>
          <a:xfrm>
            <a:off x="5242675" y="1639050"/>
            <a:ext cx="25047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Data Processing</a:t>
            </a:r>
            <a:endParaRPr/>
          </a:p>
        </p:txBody>
      </p:sp>
      <p:sp>
        <p:nvSpPr>
          <p:cNvPr id="1393" name="Google Shape;1393;p98"/>
          <p:cNvSpPr txBox="1"/>
          <p:nvPr>
            <p:ph idx="13" type="subTitle"/>
          </p:nvPr>
        </p:nvSpPr>
        <p:spPr>
          <a:xfrm>
            <a:off x="5297575" y="2960088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Benefits of Fusion</a:t>
            </a:r>
            <a:endParaRPr/>
          </a:p>
        </p:txBody>
      </p:sp>
      <p:sp>
        <p:nvSpPr>
          <p:cNvPr id="1394" name="Google Shape;1394;p98"/>
          <p:cNvSpPr txBox="1"/>
          <p:nvPr>
            <p:ph idx="2" type="body"/>
          </p:nvPr>
        </p:nvSpPr>
        <p:spPr>
          <a:xfrm>
            <a:off x="1661550" y="3258250"/>
            <a:ext cx="29862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Merges price_data and fundamentals based on stock symbol and data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Computes technical indicators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Generates analysis results stored in it’s own table</a:t>
            </a:r>
            <a:endParaRPr/>
          </a:p>
        </p:txBody>
      </p:sp>
      <p:sp>
        <p:nvSpPr>
          <p:cNvPr id="1395" name="Google Shape;1395;p98"/>
          <p:cNvSpPr txBox="1"/>
          <p:nvPr>
            <p:ph idx="3" type="body"/>
          </p:nvPr>
        </p:nvSpPr>
        <p:spPr>
          <a:xfrm>
            <a:off x="5145025" y="1945650"/>
            <a:ext cx="28524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Collects company financial metrics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Cleans and standardizes fields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Stores in fundamentals data</a:t>
            </a:r>
            <a:endParaRPr/>
          </a:p>
        </p:txBody>
      </p:sp>
      <p:sp>
        <p:nvSpPr>
          <p:cNvPr id="1396" name="Google Shape;1396;p98"/>
          <p:cNvSpPr txBox="1"/>
          <p:nvPr>
            <p:ph idx="4" type="body"/>
          </p:nvPr>
        </p:nvSpPr>
        <p:spPr>
          <a:xfrm>
            <a:off x="5145025" y="32582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Combines price trends wiith company fundamentals for easier visualization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Enables advanced analysis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Prepares data for visualization in frontend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99"/>
          <p:cNvSpPr txBox="1"/>
          <p:nvPr/>
        </p:nvSpPr>
        <p:spPr>
          <a:xfrm>
            <a:off x="273325" y="270575"/>
            <a:ext cx="73026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Model Implementation and Visualization</a:t>
            </a:r>
            <a:endParaRPr sz="2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02" name="Google Shape;1402;p99"/>
          <p:cNvSpPr txBox="1"/>
          <p:nvPr/>
        </p:nvSpPr>
        <p:spPr>
          <a:xfrm>
            <a:off x="300925" y="1374925"/>
            <a:ext cx="3636000" cy="3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Implementation </a:t>
            </a:r>
            <a:endParaRPr b="1"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Technical Indicator Calculations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RSI (Not displayed but is stored)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Moving averages (SMA)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Automation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Analysis service runs 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Fusion based metrics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Modular Code Structure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03" name="Google Shape;1403;p99"/>
          <p:cNvSpPr txBox="1"/>
          <p:nvPr/>
        </p:nvSpPr>
        <p:spPr>
          <a:xfrm>
            <a:off x="4108175" y="1347325"/>
            <a:ext cx="3862200" cy="3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Visualization</a:t>
            </a:r>
            <a:endParaRPr b="1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Matplotlib &amp; Pandas-Based Charts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Price line chart with moving averages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Combined “Insights” chart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Frontend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React dashboard for interactive charts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Live data refresh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Filter by ticker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Purpose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Turn raw numbers into actionable insights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Easily identify trends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8" name="Google Shape;1408;p100" title="StockAnalysisRecording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101"/>
          <p:cNvSpPr txBox="1"/>
          <p:nvPr>
            <p:ph idx="4294967295" type="subTitle"/>
          </p:nvPr>
        </p:nvSpPr>
        <p:spPr>
          <a:xfrm>
            <a:off x="115025" y="778250"/>
            <a:ext cx="8338800" cy="39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System: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Successfully built a modular, containerized platform that collects price data, gathers fundamentals, performs analysis, and prepares visual insights.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Insights: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Combined real-time market data with company fundamentals to generate meaningful technical indicators and trends.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Architecture: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Service-oriented design using Docker enables easy maintenance, expansion, and future integration with a full frontend experience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Enhancements: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Additional technical indicators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Automated alerts and notifications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Machine learning–based forecasting</a:t>
            </a:r>
            <a:endParaRPr sz="12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Impact: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Provides a foundation for a robust, automated stock analysis system that can be extended into a full research or trading tool.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14" name="Google Shape;1414;p101"/>
          <p:cNvSpPr txBox="1"/>
          <p:nvPr>
            <p:ph idx="1" type="body"/>
          </p:nvPr>
        </p:nvSpPr>
        <p:spPr>
          <a:xfrm>
            <a:off x="115025" y="192150"/>
            <a:ext cx="53691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Conclusion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102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